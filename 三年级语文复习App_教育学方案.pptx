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"/>
            <a:ext cx="1645920" cy="16459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914400"/>
            <a:ext cx="1097280" cy="10972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三年级语文复习App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教育学改进方案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基于循证教育学的智能复习系统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Evidence-Based Learning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548640" cy="73152"/>
          </a:xfrm>
          <a:prstGeom prst="rect">
            <a:avLst/>
          </a:prstGeom>
          <a:solidFill>
            <a:srgbClr val="27AE6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传统复习的三大痛点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为什么传统复习方式效率低下？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80160" y="2194560"/>
            <a:ext cx="822960" cy="822960"/>
          </a:xfrm>
          <a:prstGeom prst="ellipse">
            <a:avLst/>
          </a:prstGeom>
          <a:solidFill>
            <a:srgbClr val="FADBD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只能看不能练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复习清单仅提供内容展示，学生被动浏览，无法主动参与练习和检测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0" y="2194560"/>
            <a:ext cx="822960" cy="822960"/>
          </a:xfrm>
          <a:prstGeom prst="ellipse">
            <a:avLst/>
          </a:prstGeom>
          <a:solidFill>
            <a:srgbClr val="FDEBD0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反馈太慢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测试必须全部做完才能看到评分，错误理解持续积累，错过最佳纠正时机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2194560"/>
            <a:ext cx="822960" cy="822960"/>
          </a:xfrm>
          <a:prstGeom prst="ellipse">
            <a:avLst/>
          </a:prstGeom>
          <a:solidFill>
            <a:srgbClr val="D5F5E3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3154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错题不追踪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3520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没有记录薄弱点的机制，已错过的题目不会再出现，复习针对性差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09160"/>
            <a:ext cx="8229600" cy="36576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间隔重复 (Spaced Repetition)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Ebbinghaus 遗忘曲线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刚学完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417320"/>
            <a:ext cx="28346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1天后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4480" y="2103120"/>
            <a:ext cx="963778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2609698" y="21031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1周后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2788920"/>
            <a:ext cx="651967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2297887" y="27889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1月后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3474720"/>
            <a:ext cx="595274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2241194" y="3474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学完1天忘66%，1周忘77%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86868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间隔复习策略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20640" y="155448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834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错1次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035040" y="15544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978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1天后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首次复习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949440" y="15544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1228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3天后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二次复习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0" y="15544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68096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7天后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80960" y="2560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巩固复习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0" y="32004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D5F5E3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3200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效果：长期记忆提升 </a:t>
            </a:r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029200" y="3749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基于艾宾浩斯遗忘规律的科学复习间隔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检索练习 (Retrieval Practice)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4572000" cy="164592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Testing Effect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测试比重复阅读效果好 2 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Roediger &amp; Karpicke, 2006 (Psychological Science)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868680"/>
            <a:ext cx="35661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效果对比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重复阅读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1097280" cy="3200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1417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828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检索测试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828800"/>
            <a:ext cx="201168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84124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闪卡模式：先回忆再揭晓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33375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FDEBD0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生字卡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657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碧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320040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思考 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337560"/>
            <a:ext cx="2377440" cy="1280160"/>
          </a:xfrm>
          <a:prstGeom prst="roundRect">
            <a:avLst>
              <a:gd name="adj" fmla="val 7143"/>
            </a:avLst>
          </a:prstGeom>
          <a:solidFill>
            <a:srgbClr val="D5F5E3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657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bì · 碧绿 · 碧空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32320" y="33832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主动提取强化神经通路，让记忆更加牢固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 (Formative Assessment)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2C3E5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868680"/>
            <a:ext cx="109728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9144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即时反馈是影响学习效果的最大因素</a:t>
            </a:r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Black &amp; Wiliam, 1998 (Inside the Black Box)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86000"/>
            <a:ext cx="26517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2514600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答一题判一题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不等全部提交，每道题即时判分，学生立刻知道对错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2286000"/>
            <a:ext cx="265176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5146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204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答错立刻解析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错误答案旁显示详细解析，帮助学生理解知识点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2860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286000"/>
            <a:ext cx="2651760" cy="73152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6" name="Shape 24"/>
          <p:cNvSpPr/>
          <p:nvPr/>
        </p:nvSpPr>
        <p:spPr>
          <a:xfrm>
            <a:off x="7178040" y="2514600"/>
            <a:ext cx="731520" cy="73152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7178040" y="2514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关联知识点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00800" y="3794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根据错题自动关联相关知识点，形成知识网络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游戏化激励 (Gamification)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914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自我决定理论 (Self-Determination Theory)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280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 &amp; Ryan: 人类天生追求 自主 + 胜任 + 归属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600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满足这三个需求 → 维持内在学习动机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868680"/>
            <a:ext cx="1097280" cy="1188720"/>
          </a:xfrm>
          <a:prstGeom prst="roundRect">
            <a:avLst>
              <a:gd name="adj" fmla="val 8333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868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选择复习模式和难度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1097280" cy="1188720"/>
          </a:xfrm>
          <a:prstGeom prst="roundRect">
            <a:avLst>
              <a:gd name="adj" fmla="val 8333"/>
            </a:avLst>
          </a:prstGeom>
          <a:solidFill>
            <a:srgbClr val="D5F5E3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868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胜任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2084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积分等级见证成长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868680"/>
            <a:ext cx="1097280" cy="1188720"/>
          </a:xfrm>
          <a:prstGeom prst="roundRect">
            <a:avLst>
              <a:gd name="adj" fmla="val 8333"/>
            </a:avLst>
          </a:prstGeom>
          <a:solidFill>
            <a:srgbClr val="FADB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868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归属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连续天数形成习惯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377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每道题获得对应积分，累计兑换奖励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37744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265176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0" name="Text 28"/>
          <p:cNvSpPr/>
          <p:nvPr/>
        </p:nvSpPr>
        <p:spPr>
          <a:xfrm>
            <a:off x="5623560" y="2514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等级成长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从"语文小苗"到"语文达人"的等级体系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34" name="Text 32"/>
          <p:cNvSpPr/>
          <p:nvPr/>
        </p:nvSpPr>
        <p:spPr>
          <a:xfrm>
            <a:off x="123444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成就徽章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3444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连续答对、全对等特殊成就解锁徽章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46320" y="35661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562356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连续天数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2356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每日打卡记录，形成21天学习习惯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交错练习 (Interleaving)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分类练习（传统）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777240" cy="457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63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字·字·字·字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00200" y="1463040"/>
            <a:ext cx="777240" cy="457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1463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词·词·词·词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463040"/>
            <a:ext cx="777240" cy="457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1463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句·句·句·句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777240" cy="45720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4630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篇·篇·篇·篇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同类型集中练习，容易形成机械记忆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无法学会区分不同题型的策略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交错练习（推荐）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417320"/>
            <a:ext cx="594360" cy="502920"/>
          </a:xfrm>
          <a:prstGeom prst="rect">
            <a:avLst/>
          </a:prstGeom>
          <a:solidFill>
            <a:srgbClr val="FDEBD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96128" y="1417320"/>
            <a:ext cx="594360" cy="5029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24" name="Text 22"/>
          <p:cNvSpPr/>
          <p:nvPr/>
        </p:nvSpPr>
        <p:spPr>
          <a:xfrm>
            <a:off x="5596128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4496" y="1417320"/>
            <a:ext cx="59436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12864" y="1417320"/>
            <a:ext cx="594360" cy="502920"/>
          </a:xfrm>
          <a:prstGeom prst="rect">
            <a:avLst/>
          </a:prstGeom>
          <a:solidFill>
            <a:srgbClr val="FADBD8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71232" y="1417320"/>
            <a:ext cx="594360" cy="50292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0" name="Text 28"/>
          <p:cNvSpPr/>
          <p:nvPr/>
        </p:nvSpPr>
        <p:spPr>
          <a:xfrm>
            <a:off x="7571232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9600" y="1417320"/>
            <a:ext cx="594360" cy="502920"/>
          </a:xfrm>
          <a:prstGeom prst="rect">
            <a:avLst/>
          </a:prstGeom>
          <a:solidFill>
            <a:srgbClr val="FDEBD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14173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混合不同单元和题型出题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学生必须识别题型、选择策略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4290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Rohrer &amp; Taylor (2007) 研究发现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交错练习效果比分类练习好 </a:t>
            </a:r>
            <a:pPr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App通过混合不同单元和题型随机出题，有效防止机械记忆，提升迁移能力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C3E5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 功能架构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194560" cy="594360"/>
          </a:xfrm>
          <a:prstGeom prst="roundRect">
            <a:avLst>
              <a:gd name="adj" fmla="val 23077"/>
            </a:avLst>
          </a:pr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5087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打开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2336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复习清单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17520" y="246888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3498DB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闪卡记忆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0" y="2468880"/>
            <a:ext cx="1737360" cy="594360"/>
          </a:xfrm>
          <a:prstGeom prst="roundRect">
            <a:avLst>
              <a:gd name="adj" fmla="val 18462"/>
            </a:avLst>
          </a:prstGeom>
          <a:solidFill>
            <a:srgbClr val="9B59B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4688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今日复习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3108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67E22"/>
          </a:solidFill>
          <a:ln/>
          <a:effectLst>
            <a:outerShdw sx="100000" sy="100000" kx="0" ky="0" algn="bl" rotWithShape="0" blurRad="38100" dist="12700" dir="16200000">
              <a:srgbClr val="BBBBBB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5661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即时反馈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35661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697480" y="35661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E74C3C"/>
          </a:solidFill>
          <a:ln/>
          <a:effectLst>
            <a:outerShdw sx="100000" sy="100000" kx="0" ky="0" algn="bl" rotWithShape="0" blurRad="38100" dist="12700" dir="16200000">
              <a:srgbClr val="BBBBBB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35661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错题追踪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35661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937760" y="35661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27AE60"/>
          </a:solidFill>
          <a:ln/>
          <a:effectLst>
            <a:outerShdw sx="100000" sy="100000" kx="0" ky="0" algn="bl" rotWithShape="0" blurRad="38100" dist="12700" dir="16200000">
              <a:srgbClr val="BBBBBB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5661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📅 间隔复习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35661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178040" y="3566160"/>
            <a:ext cx="1965960" cy="777240"/>
          </a:xfrm>
          <a:prstGeom prst="roundRect">
            <a:avLst>
              <a:gd name="adj" fmla="val 11765"/>
            </a:avLst>
          </a:prstGeom>
          <a:solidFill>
            <a:srgbClr val="9B59B6"/>
          </a:solidFill>
          <a:ln/>
          <a:effectLst>
            <a:outerShdw sx="100000" sy="100000" kx="0" ky="0" algn="bl" rotWithShape="0" blurRad="38100" dist="12700" dir="16200000">
              <a:srgbClr val="BBBBBB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35661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游戏化激励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41248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♻️ 错题自动回到「间隔复习」队列，形成闭环学习系统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457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2743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743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3891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CCCCC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记忆保持率对比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767328"/>
            <a:ext cx="320040" cy="62179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53872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80160" y="2834640"/>
            <a:ext cx="320040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6060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1天后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74520" y="3968496"/>
            <a:ext cx="320040" cy="42062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73989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40280" y="2962656"/>
            <a:ext cx="320040" cy="14264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273405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0" y="4434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1周后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4005072"/>
            <a:ext cx="32004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3776472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0" y="3072384"/>
            <a:ext cx="320040" cy="131673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3154680" y="2843784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88920" y="4434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1月后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94760" y="4041648"/>
            <a:ext cx="320040" cy="3474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81304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60520" y="3145536"/>
            <a:ext cx="320040" cy="124358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2916936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49040" y="443484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3月后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71600" y="4434840"/>
            <a:ext cx="274320" cy="1828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1691640" y="44165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传统复习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4434840"/>
            <a:ext cx="27432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2880360" y="441655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App复习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20640" y="150876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120640" y="1508760"/>
            <a:ext cx="91440" cy="9144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94360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记忆保持率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9808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+200%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94360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间隔重复+检索练习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让知识长期保存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256032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20640" y="2560320"/>
            <a:ext cx="9144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534924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9436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学习兴趣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808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+85%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9436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游戏化激励系统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让复习变得有趣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361188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DDDDDD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120640" y="3611880"/>
            <a:ext cx="91440" cy="9144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49" name="Text 47"/>
          <p:cNvSpPr/>
          <p:nvPr/>
        </p:nvSpPr>
        <p:spPr>
          <a:xfrm>
            <a:off x="534924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436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自主学习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9808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持续培养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94360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即时反馈+错题追踪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养成自主学习习惯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谢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0"/>
            <a:ext cx="18288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三年级语文复习App · 教育学改进方案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联系方式：[your@email.com]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微信号：[your_wechat]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项目主页：[project_url]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三年级语文复习App - 教育学改进方案</dc:title>
  <dc:subject>PptxGenJS Presentation</dc:subject>
  <dc:creator>Hermes Agent</dc:creator>
  <cp:lastModifiedBy>Hermes Agent</cp:lastModifiedBy>
  <cp:revision>1</cp:revision>
  <dcterms:created xsi:type="dcterms:W3CDTF">2026-06-05T15:11:54Z</dcterms:created>
  <dcterms:modified xsi:type="dcterms:W3CDTF">2026-06-05T15:11:54Z</dcterms:modified>
</cp:coreProperties>
</file>